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4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Using the Law of Conservation of Energy</a:t>
            </a:r>
          </a:p>
          <a:p>
            <a:pPr>
              <a:defRPr sz="2500">
                <a:solidFill>
                  <a:srgbClr val="BEE8DA"/>
                </a:solidFill>
              </a:defRPr>
            </a:pPr>
            <a:r>
              <a:t>AP Physics 1 · Unit 3 · Lesson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Identify the main energy transfer in a physical event.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State and explain conservation of energy.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Solve problems by comparing total energy before and after an event.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Use AP notation consistently, with genuine subscripts and superscripts.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Compare force-and-motion and energy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Working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00400" cy="1005840"/>
          </a:xfrm>
          <a:prstGeom prst="roundRect">
            <a:avLst/>
          </a:prstGeom>
          <a:solidFill>
            <a:srgbClr val="FFF2C9"/>
          </a:solidFill>
          <a:ln>
            <a:solidFill>
              <a:srgbClr val="0B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E2A28"/>
                </a:solidFill>
                <a:latin typeface="Arial"/>
              </a:defRPr>
            </a:pPr>
            <a:r>
              <a:t>EQUATION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6583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Write the governing equation symbolically.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Rearrange if necessary.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Substitute values with units.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State the answer with units and sensible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Conservation of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Energy cannot be created or destroyed.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Choose initial and final states clearly.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Account for all relevant energy stores.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No work-energy theorem in this lesson.</a:t>
            </a:r>
          </a:p>
        </p:txBody>
      </p:sp>
      <p:pic>
        <p:nvPicPr>
          <p:cNvPr id="6" name="Picture 5" descr="audi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03120"/>
            <a:ext cx="4206240" cy="741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AP Physics 1 notation used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dit_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212080" cy="761537"/>
          </a:xfrm>
          <a:prstGeom prst="rect">
            <a:avLst/>
          </a:prstGeom>
        </p:spPr>
      </p:pic>
      <p:pic>
        <p:nvPicPr>
          <p:cNvPr id="6" name="Picture 5" descr="audit_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4114800" cy="756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92608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Near-Earth gravitational potential-energy change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General gravitational potential energy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Normal force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Friction force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Net force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1 · Energy transfers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A28"/>
                </a:solidFill>
                <a:latin typeface="Arial"/>
              </a:defRPr>
            </a:pPr>
            <a:r>
              <a:t>A small, dense ball falls through the air.</a:t>
            </a:r>
          </a:p>
          <a:p>
            <a:pPr>
              <a:spcAft>
                <a:spcPts val="900"/>
              </a:spcAft>
              <a:defRPr sz="1800">
                <a:solidFill>
                  <a:srgbClr val="1E2A28"/>
                </a:solidFill>
                <a:latin typeface="Arial"/>
              </a:defRPr>
            </a:pPr>
            <a:r>
              <a:t>A car with its engine switched off coasts uphill and slows down.</a:t>
            </a:r>
          </a:p>
          <a:p>
            <a:pPr>
              <a:spcAft>
                <a:spcPts val="900"/>
              </a:spcAft>
              <a:defRPr sz="1800">
                <a:solidFill>
                  <a:srgbClr val="1E2A28"/>
                </a:solidFill>
                <a:latin typeface="Arial"/>
              </a:defRPr>
            </a:pPr>
            <a:r>
              <a:t>The school lift descends at steady speed.</a:t>
            </a:r>
          </a:p>
          <a:p>
            <a:pPr>
              <a:spcAft>
                <a:spcPts val="900"/>
              </a:spcAft>
              <a:defRPr sz="1800">
                <a:solidFill>
                  <a:srgbClr val="1E2A28"/>
                </a:solidFill>
                <a:latin typeface="Arial"/>
              </a:defRPr>
            </a:pPr>
            <a:r>
              <a:t>A compressed spring launches a cart on a horizontal track.</a:t>
            </a:r>
          </a:p>
          <a:p>
            <a:pPr>
              <a:spcAft>
                <a:spcPts val="900"/>
              </a:spcAft>
              <a:defRPr sz="1800">
                <a:solidFill>
                  <a:srgbClr val="1E2A28"/>
                </a:solidFill>
                <a:latin typeface="Arial"/>
              </a:defRPr>
            </a:pPr>
            <a:r>
              <a:t>A bicycle brakes to rest on level ground.</a:t>
            </a:r>
          </a:p>
          <a:p>
            <a:pPr>
              <a:spcAft>
                <a:spcPts val="900"/>
              </a:spcAft>
              <a:defRPr sz="1800">
                <a:solidFill>
                  <a:srgbClr val="1E2A28"/>
                </a:solidFill>
                <a:latin typeface="Arial"/>
              </a:defRPr>
            </a:pPr>
            <a:r>
              <a:t>A bouncy ball strikes the floor and compresses before rebounding.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103120"/>
            <a:ext cx="3931920" cy="1280160"/>
          </a:xfrm>
          <a:prstGeom prst="roundRect">
            <a:avLst/>
          </a:prstGeom>
          <a:solidFill>
            <a:srgbClr val="FFF2C9"/>
          </a:solidFill>
          <a:ln>
            <a:solidFill>
              <a:srgbClr val="0B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E2A28"/>
                </a:solidFill>
                <a:latin typeface="Arial"/>
              </a:defRPr>
            </a:pPr>
            <a:r>
              <a:t>Lift descending at steady speed:</a:t>
            </a:r>
            <a:br/>
            <a:r>
              <a:t>Gravitational →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Tasks 2–3 · From idea to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Start by writing the energy equation.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Keep the sign of the gravitational potential-energy change consistent.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For kinematics, write the kinematics relationship before substituting.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For kinetic energy, state the kinetic-energy equation before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5 · Bouncy ball practical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uncy_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4023360" cy="34156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0" y="164592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Measure mass, drop height and repeated rebound heights.</a:t>
            </a:r>
          </a:p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Calculate the initial gravitational potential energy.</a:t>
            </a:r>
          </a:p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Calculate the rebound gravitational potential energy.</a:t>
            </a:r>
          </a:p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Calculate the mechanical energy not recovered.</a:t>
            </a:r>
          </a:p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Discuss internal energy, sound and uncertainty.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6A · Incline: force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cline_050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4572000" cy="2889993"/>
          </a:xfrm>
          <a:prstGeom prst="rect">
            <a:avLst/>
          </a:prstGeom>
        </p:spPr>
      </p:pic>
      <p:pic>
        <p:nvPicPr>
          <p:cNvPr id="6" name="Picture 5" descr="audit_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828800"/>
            <a:ext cx="5577840" cy="676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3657600"/>
            <a:ext cx="3931920" cy="822960"/>
          </a:xfrm>
          <a:prstGeom prst="roundRect">
            <a:avLst/>
          </a:prstGeom>
          <a:solidFill>
            <a:srgbClr val="E9F5F0"/>
          </a:solidFill>
          <a:ln>
            <a:solidFill>
              <a:srgbClr val="0B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E2A28"/>
                </a:solidFill>
                <a:latin typeface="Arial"/>
              </a:defRPr>
            </a:pPr>
            <a:r>
              <a:t>Then use v² = v₀² + 2aΔx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6B · Projectile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jectile_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572000" cy="2664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Resolve the initial velocity into horizontal and vertical components.</a:t>
            </a:r>
          </a:p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At the top, the vertical velocity is zero while the horizontal component remains.</a:t>
            </a:r>
          </a:p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State the kinetic-energy equation before substitution.</a:t>
            </a:r>
          </a:p>
          <a:p>
            <a:pPr>
              <a:spcAft>
                <a:spcPts val="900"/>
              </a:spcAft>
              <a:defRPr sz="1900">
                <a:solidFill>
                  <a:srgbClr val="1E2A28"/>
                </a:solidFill>
                <a:latin typeface="Arial"/>
              </a:defRPr>
            </a:pPr>
            <a:r>
              <a:t>With negligible drag, the kinetic-energy change balances the gravitational-potential-energy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7 · Beyond constant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dit_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297680" cy="789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164592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Use the general gravitational-potential equation shown at left.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Its zero is defined at infinite separation.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Use the near-Earth change equation only when gravitational field strength is approximately constant.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8 · Falling with drag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Account for gravitational energy lost between kinetic and internal energy.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State the kinetic-energy equation first.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State the constant-acceleration equation first.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Begin force analysis with Newton’s second law.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Taking downward as positive, weight and drag act in opposite directions.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Tasks 9–10 · Derive before calculating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di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297680" cy="7572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737360"/>
            <a:ext cx="4389120" cy="1005840"/>
          </a:xfrm>
          <a:prstGeom prst="roundRect">
            <a:avLst/>
          </a:prstGeom>
          <a:solidFill>
            <a:srgbClr val="FFF2C9"/>
          </a:solidFill>
          <a:ln>
            <a:solidFill>
              <a:srgbClr val="0B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2A28"/>
                </a:solidFill>
                <a:latin typeface="Arial"/>
              </a:defRPr>
            </a:pPr>
            <a:r>
              <a:t>v² = v₀² + 2gH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Derive the familiar result from energy conservation.</a:t>
            </a:r>
          </a:p>
          <a:p>
            <a:pPr>
              <a:spcAft>
                <a:spcPts val="900"/>
              </a:spcAft>
              <a:defRPr sz="2100">
                <a:solidFill>
                  <a:srgbClr val="1E2A28"/>
                </a:solidFill>
                <a:latin typeface="Arial"/>
              </a:defRPr>
            </a:pPr>
            <a:r>
              <a:t>For projectiles, energy can avoid solving for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11 · Frictionless incline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cline_30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4572000" cy="2765778"/>
          </a:xfrm>
          <a:prstGeom prst="rect">
            <a:avLst/>
          </a:prstGeom>
        </p:spPr>
      </p:pic>
      <p:pic>
        <p:nvPicPr>
          <p:cNvPr id="6" name="Picture 5" descr="audit_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37360"/>
            <a:ext cx="5303520" cy="6431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0" y="3657600"/>
            <a:ext cx="4206240" cy="1005840"/>
          </a:xfrm>
          <a:prstGeom prst="roundRect">
            <a:avLst/>
          </a:prstGeom>
          <a:solidFill>
            <a:srgbClr val="E9F5F0"/>
          </a:solidFill>
          <a:ln>
            <a:solidFill>
              <a:srgbClr val="0B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E2A28"/>
                </a:solidFill>
                <a:latin typeface="Arial"/>
              </a:defRPr>
            </a:pPr>
            <a:r>
              <a:t>Energy route: conservation of energy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Task 12 · Rough incline: AP force 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dit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846320" cy="746333"/>
          </a:xfrm>
          <a:prstGeom prst="rect">
            <a:avLst/>
          </a:prstGeom>
        </p:spPr>
      </p:pic>
      <p:pic>
        <p:nvPicPr>
          <p:cNvPr id="6" name="Picture 5" descr="audit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4663440" cy="681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0040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Perpendicular to the plane: the net force is zero.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Parallel to the plane: apply Newton’s second law.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Use the AP force symbols shown above consistently.</a:t>
            </a:r>
          </a:p>
          <a:p>
            <a:pPr>
              <a:spcAft>
                <a:spcPts val="900"/>
              </a:spcAft>
              <a:defRPr sz="2000">
                <a:solidFill>
                  <a:srgbClr val="1E2A28"/>
                </a:solidFill>
                <a:latin typeface="Arial"/>
              </a:defRPr>
            </a:pPr>
            <a:r>
              <a:t>Use the kinetic-friction coefficient with its proper subscript.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74D39"/>
                </a:solidFill>
                <a:latin typeface="Arial"/>
              </a:defRPr>
            </a:pPr>
            <a:r>
              <a:t>Exit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B6B4F"/>
                </a:solidFill>
                <a:latin typeface="Arial"/>
              </a:defRPr>
            </a:pPr>
            <a:r>
              <a:t>AP Physics 1 · Unit 3 · Lesson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55680" cy="45720"/>
          </a:xfrm>
          <a:prstGeom prst="rect">
            <a:avLst/>
          </a:prstGeom>
          <a:solidFill>
            <a:srgbClr val="0B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1E2A28"/>
                </a:solidFill>
                <a:latin typeface="Arial"/>
              </a:defRPr>
            </a:pPr>
            <a:r>
              <a:t>Identify the energy transfer.</a:t>
            </a:r>
          </a:p>
          <a:p>
            <a:pPr>
              <a:spcAft>
                <a:spcPts val="900"/>
              </a:spcAft>
              <a:defRPr sz="2200">
                <a:solidFill>
                  <a:srgbClr val="1E2A28"/>
                </a:solidFill>
                <a:latin typeface="Arial"/>
              </a:defRPr>
            </a:pPr>
            <a:r>
              <a:t>Choose initial and final states.</a:t>
            </a:r>
          </a:p>
          <a:p>
            <a:pPr>
              <a:spcAft>
                <a:spcPts val="900"/>
              </a:spcAft>
              <a:defRPr sz="2200">
                <a:solidFill>
                  <a:srgbClr val="1E2A28"/>
                </a:solidFill>
                <a:latin typeface="Arial"/>
              </a:defRPr>
            </a:pPr>
            <a:r>
              <a:t>Write the equation first.</a:t>
            </a:r>
          </a:p>
          <a:p>
            <a:pPr>
              <a:spcAft>
                <a:spcPts val="900"/>
              </a:spcAft>
              <a:defRPr sz="2200">
                <a:solidFill>
                  <a:srgbClr val="1E2A28"/>
                </a:solidFill>
                <a:latin typeface="Arial"/>
              </a:defRPr>
            </a:pPr>
            <a:r>
              <a:t>Use AP notation and correct subscripts.</a:t>
            </a:r>
          </a:p>
          <a:p>
            <a:pPr>
              <a:spcAft>
                <a:spcPts val="900"/>
              </a:spcAft>
              <a:defRPr sz="2200">
                <a:solidFill>
                  <a:srgbClr val="1E2A28"/>
                </a:solidFill>
                <a:latin typeface="Arial"/>
              </a:defRPr>
            </a:pPr>
            <a:r>
              <a:t>Then substitute and calculate.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
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4D3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960120"/>
            <a:ext cx="1078992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  <a:latin typeface="Arial"/>
              </a:defRPr>
            </a:pPr>
            <a:r>
              <a:t>Using the Law of Conservation of Energy</a:t>
            </a:r>
          </a:p>
          <a:p>
            <a:pPr>
              <a:defRPr sz="2500">
                <a:solidFill>
                  <a:srgbClr val="BEE8DA"/>
                </a:solidFill>
                <a:latin typeface="Arial"/>
              </a:defRPr>
            </a:pPr>
            <a:r>
              <a:t>AP Physics 1 · Unit 3 · Lesson 2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4023360"/>
            <a:ext cx="10424160" cy="914400"/>
          </a:xfrm>
          <a:prstGeom prst="roundRect">
            <a:avLst/>
          </a:prstGeom>
          <a:solidFill>
            <a:srgbClr val="E0F1EB"/>
          </a:solidFill>
          <a:ln>
            <a:solidFill>
              <a:srgbClr val="0B6B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100" b="1">
                <a:solidFill>
                  <a:srgbClr val="074D39"/>
                </a:solidFill>
                <a:latin typeface="Arial"/>
              </a:defRPr>
            </a:pPr>
            <a:r>
              <a:t>Today: identify transfers → compare energy before and after → solve and generalise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6217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074D39"/>
                </a:solidFill>
                <a:latin typeface="Arial"/>
              </a:defRPr>
            </a:pPr>
            <a:r>
              <a:t>Objectives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91440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B6B4F"/>
                </a:solidFill>
                <a:latin typeface="Arial"/>
              </a:defRPr>
            </a:pPr>
            <a:r>
              <a:t>AP Physics 1 · Unit 3 · Lesson 2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34440"/>
            <a:ext cx="11155680" cy="45720"/>
          </a:xfrm>
          <a:prstGeom prst="rect">
            <a:avLst/>
          </a:prstGeom>
          <a:solidFill>
            <a:srgbClr val="0B6B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508760"/>
            <a:ext cx="10515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900">
                <a:solidFill>
                  <a:srgbClr val="1E2A28"/>
                </a:solidFill>
                <a:latin typeface="Arial"/>
              </a:defRPr>
            </a:pPr>
            <a:r>
              <a:t>Identify the main energy transfers in a physical event.</a:t>
            </a:r>
          </a:p>
          <a:p>
            <a:pPr>
              <a:spcAft>
                <a:spcPts val="1000"/>
              </a:spcAft>
              <a:defRPr sz="1900">
                <a:solidFill>
                  <a:srgbClr val="1E2A28"/>
                </a:solidFill>
                <a:latin typeface="Arial"/>
              </a:defRPr>
            </a:pPr>
            <a:r>
              <a:t>State and explain the principle of conservation of energy.</a:t>
            </a:r>
          </a:p>
          <a:p>
            <a:pPr>
              <a:spcAft>
                <a:spcPts val="1000"/>
              </a:spcAft>
              <a:defRPr sz="1900">
                <a:solidFill>
                  <a:srgbClr val="1E2A28"/>
                </a:solidFill>
                <a:latin typeface="Arial"/>
              </a:defRPr>
            </a:pPr>
            <a:r>
              <a:t>Solve problems by comparing the total energy before and after an event.</a:t>
            </a:r>
          </a:p>
          <a:p>
            <a:pPr>
              <a:spcAft>
                <a:spcPts val="1000"/>
              </a:spcAft>
              <a:defRPr sz="1900">
                <a:solidFill>
                  <a:srgbClr val="1E2A28"/>
                </a:solidFill>
                <a:latin typeface="Arial"/>
              </a:defRPr>
            </a:pPr>
            <a:r>
              <a:t>Use K, ΔU_g, U_g, U_s and ΔU_int with correct AP-style notation.</a:t>
            </a:r>
          </a:p>
          <a:p>
            <a:pPr>
              <a:spcAft>
                <a:spcPts val="1000"/>
              </a:spcAft>
              <a:defRPr sz="1900">
                <a:solidFill>
                  <a:srgbClr val="1E2A28"/>
                </a:solidFill>
                <a:latin typeface="Arial"/>
              </a:defRPr>
            </a:pPr>
            <a:r>
              <a:t>Compare force-and-motion methods with energy methods and choose an efficient approach.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6217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074D39"/>
                </a:solidFill>
                <a:latin typeface="Arial"/>
              </a:defRPr>
            </a:pPr>
            <a:r>
              <a:t>Conservation of energy: the central idea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91440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B6B4F"/>
                </a:solidFill>
                <a:latin typeface="Arial"/>
              </a:defRPr>
            </a:pPr>
            <a:r>
              <a:t>AP Physics 1 · Unit 3 · Lesson 2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34440"/>
            <a:ext cx="11155680" cy="45720"/>
          </a:xfrm>
          <a:prstGeom prst="rect">
            <a:avLst/>
          </a:prstGeom>
          <a:solidFill>
            <a:srgbClr val="0B6B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554480"/>
            <a:ext cx="56692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1E2A28"/>
                </a:solidFill>
                <a:latin typeface="Arial"/>
              </a:defRPr>
            </a:pPr>
            <a:r>
              <a:t>Energy cannot be created or destroyed.</a:t>
            </a:r>
          </a:p>
          <a:p>
            <a:pPr>
              <a:spcAft>
                <a:spcPts val="1000"/>
              </a:spcAft>
              <a:defRPr sz="2000">
                <a:solidFill>
                  <a:srgbClr val="1E2A28"/>
                </a:solidFill>
                <a:latin typeface="Arial"/>
              </a:defRPr>
            </a:pPr>
            <a:r>
              <a:t>Energy can move between stores/types and between a system and its surroundings.</a:t>
            </a:r>
          </a:p>
          <a:p>
            <a:pPr>
              <a:spcAft>
                <a:spcPts val="1000"/>
              </a:spcAft>
              <a:defRPr sz="2000">
                <a:solidFill>
                  <a:srgbClr val="1E2A28"/>
                </a:solidFill>
                <a:latin typeface="Arial"/>
              </a:defRPr>
            </a:pPr>
            <a:r>
              <a:t>For a suitable system: total energy before = total energy after.</a:t>
            </a:r>
          </a:p>
          <a:p>
            <a:pPr>
              <a:spcAft>
                <a:spcPts val="1000"/>
              </a:spcAft>
              <a:defRPr sz="2000">
                <a:solidFill>
                  <a:srgbClr val="1E2A28"/>
                </a:solidFill>
                <a:latin typeface="Arial"/>
              </a:defRPr>
            </a:pPr>
            <a:r>
              <a:t>We do NOT use the work-energy theorem today.</a:t>
            </a:r>
          </a:p>
        </p:txBody>
      </p:sp>
      <p:pic>
        <p:nvPicPr>
          <p:cNvPr id="6" name="Picture 5" descr="eq_before_af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2011680"/>
            <a:ext cx="4206240" cy="806403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858000" y="3657600"/>
            <a:ext cx="4023360" cy="731520"/>
          </a:xfrm>
          <a:prstGeom prst="roundRect">
            <a:avLst/>
          </a:prstGeom>
          <a:solidFill>
            <a:srgbClr val="F6E8C5"/>
          </a:solidFill>
          <a:ln>
            <a:solidFill>
              <a:srgbClr val="0B6B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1E2A28"/>
                </a:solidFill>
                <a:latin typeface="Arial"/>
              </a:defRPr>
            </a:pPr>
            <a:r>
              <a:t>g = 9.8 m s⁻² throughout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6217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074D39"/>
                </a:solidFill>
                <a:latin typeface="Arial"/>
              </a:defRPr>
            </a:pPr>
            <a:r>
              <a:t>Our AP Physics 1 energy toolkit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91440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B6B4F"/>
                </a:solidFill>
                <a:latin typeface="Arial"/>
              </a:defRPr>
            </a:pPr>
            <a:r>
              <a:t>AP Physics 1 · Unit 3 · Lesson 2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34440"/>
            <a:ext cx="11155680" cy="45720"/>
          </a:xfrm>
          <a:prstGeom prst="rect">
            <a:avLst/>
          </a:prstGeom>
          <a:solidFill>
            <a:srgbClr val="0B6B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eq_K_dU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5303520" cy="1016770"/>
          </a:xfrm>
          <a:prstGeom prst="rect">
            <a:avLst/>
          </a:prstGeom>
        </p:spPr>
      </p:pic>
      <p:pic>
        <p:nvPicPr>
          <p:cNvPr id="6" name="Picture 5" descr="eq_U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1645920"/>
            <a:ext cx="4114800" cy="78887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2926080"/>
            <a:ext cx="102412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900">
                <a:solidFill>
                  <a:srgbClr val="1E2A28"/>
                </a:solidFill>
                <a:latin typeface="Arial"/>
              </a:defRPr>
            </a:pPr>
            <a:r>
              <a:t>K: translational kinetic energy</a:t>
            </a:r>
          </a:p>
          <a:p>
            <a:pPr>
              <a:spcAft>
                <a:spcPts val="1000"/>
              </a:spcAft>
              <a:defRPr sz="1900">
                <a:solidFill>
                  <a:srgbClr val="1E2A28"/>
                </a:solidFill>
                <a:latin typeface="Arial"/>
              </a:defRPr>
            </a:pPr>
            <a:r>
              <a:t>ΔU_g: near-surface gravitational PE change</a:t>
            </a:r>
          </a:p>
          <a:p>
            <a:pPr>
              <a:spcAft>
                <a:spcPts val="1000"/>
              </a:spcAft>
              <a:defRPr sz="1900">
                <a:solidFill>
                  <a:srgbClr val="1E2A28"/>
                </a:solidFill>
                <a:latin typeface="Arial"/>
              </a:defRPr>
            </a:pPr>
            <a:r>
              <a:t>U_g: general gravitational PE</a:t>
            </a:r>
          </a:p>
          <a:p>
            <a:pPr>
              <a:spcAft>
                <a:spcPts val="1000"/>
              </a:spcAft>
              <a:defRPr sz="1900">
                <a:solidFill>
                  <a:srgbClr val="1E2A28"/>
                </a:solidFill>
                <a:latin typeface="Arial"/>
              </a:defRPr>
            </a:pPr>
            <a:r>
              <a:t>U_s: spring potential energy</a:t>
            </a:r>
          </a:p>
          <a:p>
            <a:pPr>
              <a:spcAft>
                <a:spcPts val="1000"/>
              </a:spcAft>
              <a:defRPr sz="1900">
                <a:solidFill>
                  <a:srgbClr val="1E2A28"/>
                </a:solidFill>
                <a:latin typeface="Arial"/>
              </a:defRPr>
            </a:pPr>
            <a:r>
              <a:t>ΔU_int: internal-energy change bookkeeping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6217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074D39"/>
                </a:solidFill>
                <a:latin typeface="Arial"/>
              </a:defRPr>
            </a:pPr>
            <a:r>
              <a:t>Task 1 · Identify the main transfer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91440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B6B4F"/>
                </a:solidFill>
                <a:latin typeface="Arial"/>
              </a:defRPr>
            </a:pPr>
            <a:r>
              <a:t>AP Physics 1 · Unit 3 · Lesson 2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34440"/>
            <a:ext cx="11155680" cy="45720"/>
          </a:xfrm>
          <a:prstGeom prst="rect">
            <a:avLst/>
          </a:prstGeom>
          <a:solidFill>
            <a:srgbClr val="0B6B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554480"/>
            <a:ext cx="54864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1E2A28"/>
                </a:solidFill>
                <a:latin typeface="Arial"/>
              </a:defRPr>
            </a:pPr>
            <a:r>
              <a:t>Small dense ball falling</a:t>
            </a:r>
          </a:p>
          <a:p>
            <a:pPr>
              <a:spcAft>
                <a:spcPts val="1000"/>
              </a:spcAft>
              <a:defRPr sz="2000">
                <a:solidFill>
                  <a:srgbClr val="1E2A28"/>
                </a:solidFill>
                <a:latin typeface="Arial"/>
              </a:defRPr>
            </a:pPr>
            <a:r>
              <a:t>Car coasting uphill, engine off</a:t>
            </a:r>
          </a:p>
          <a:p>
            <a:pPr>
              <a:spcAft>
                <a:spcPts val="1000"/>
              </a:spcAft>
              <a:defRPr sz="2000">
                <a:solidFill>
                  <a:srgbClr val="1E2A28"/>
                </a:solidFill>
                <a:latin typeface="Arial"/>
              </a:defRPr>
            </a:pPr>
            <a:r>
              <a:t>School lift descending at steady speed</a:t>
            </a:r>
          </a:p>
          <a:p>
            <a:pPr>
              <a:spcAft>
                <a:spcPts val="1000"/>
              </a:spcAft>
              <a:defRPr sz="2000">
                <a:solidFill>
                  <a:srgbClr val="1E2A28"/>
                </a:solidFill>
                <a:latin typeface="Arial"/>
              </a:defRPr>
            </a:pPr>
            <a:r>
              <a:t>Compressed spring launches a cart</a:t>
            </a:r>
          </a:p>
          <a:p>
            <a:pPr>
              <a:spcAft>
                <a:spcPts val="1000"/>
              </a:spcAft>
              <a:defRPr sz="2000">
                <a:solidFill>
                  <a:srgbClr val="1E2A28"/>
                </a:solidFill>
                <a:latin typeface="Arial"/>
              </a:defRPr>
            </a:pPr>
            <a:r>
              <a:t>Bicycle brakes to rest</a:t>
            </a:r>
          </a:p>
          <a:p>
            <a:pPr>
              <a:spcAft>
                <a:spcPts val="1000"/>
              </a:spcAft>
              <a:defRPr sz="2000">
                <a:solidFill>
                  <a:srgbClr val="1E2A28"/>
                </a:solidFill>
                <a:latin typeface="Arial"/>
              </a:defRPr>
            </a:pPr>
            <a:r>
              <a:t>Bouncy ball compresses on impact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0" y="1920240"/>
            <a:ext cx="4480560" cy="1371600"/>
          </a:xfrm>
          <a:prstGeom prst="roundRect">
            <a:avLst/>
          </a:prstGeom>
          <a:solidFill>
            <a:srgbClr val="E9F5F0"/>
          </a:solidFill>
          <a:ln>
            <a:solidFill>
              <a:srgbClr val="0B6B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1E2A28"/>
                </a:solidFill>
                <a:latin typeface="Arial"/>
              </a:defRPr>
            </a:pPr>
            <a:r>
              <a:t>Students choose: energy type 1 → energy type 2</a:t>
            </a:r>
            <a:br/>
            <a:r>
              <a:t>from all nine GREENSICK forms.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0" y="3794760"/>
            <a:ext cx="4480560" cy="822960"/>
          </a:xfrm>
          <a:prstGeom prst="roundRect">
            <a:avLst/>
          </a:prstGeom>
          <a:solidFill>
            <a:srgbClr val="F6E8C5"/>
          </a:solidFill>
          <a:ln>
            <a:solidFill>
              <a:srgbClr val="0B6B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1E2A28"/>
                </a:solidFill>
                <a:latin typeface="Arial"/>
              </a:defRPr>
            </a:pPr>
            <a:r>
              <a:t>Lift: gravitational → internal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6217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074D39"/>
                </a:solidFill>
                <a:latin typeface="Arial"/>
              </a:defRPr>
            </a:pPr>
            <a:r>
              <a:t>Tasks 2–3 · From qualitative to quantitative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91440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B6B4F"/>
                </a:solidFill>
                <a:latin typeface="Arial"/>
              </a:defRPr>
            </a:pPr>
            <a:r>
              <a:t>AP Physics 1 · Unit 3 · Lesson 2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34440"/>
            <a:ext cx="11155680" cy="45720"/>
          </a:xfrm>
          <a:prstGeom prst="rect">
            <a:avLst/>
          </a:prstGeom>
          <a:solidFill>
            <a:srgbClr val="0B6B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554480"/>
            <a:ext cx="64008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900">
                <a:solidFill>
                  <a:srgbClr val="1E2A28"/>
                </a:solidFill>
                <a:latin typeface="Arial"/>
              </a:defRPr>
            </a:pPr>
            <a:r>
              <a:t>100 J into a bulb: account for every joule.</a:t>
            </a:r>
          </a:p>
          <a:p>
            <a:pPr>
              <a:spcAft>
                <a:spcPts val="1000"/>
              </a:spcAft>
              <a:defRPr sz="1900">
                <a:solidFill>
                  <a:srgbClr val="1E2A28"/>
                </a:solidFill>
                <a:latin typeface="Arial"/>
              </a:defRPr>
            </a:pPr>
            <a:r>
              <a:t>Ball: 250 J gravitational lost, 200 J kinetic gained — where is the rest?</a:t>
            </a:r>
          </a:p>
          <a:p>
            <a:pPr>
              <a:spcAft>
                <a:spcPts val="1000"/>
              </a:spcAft>
              <a:defRPr sz="1900">
                <a:solidFill>
                  <a:srgbClr val="1E2A28"/>
                </a:solidFill>
                <a:latin typeface="Arial"/>
              </a:defRPr>
            </a:pPr>
            <a:r>
              <a:t>Elastic band: use the highest point to infer initial spring energy.</a:t>
            </a:r>
          </a:p>
          <a:p>
            <a:pPr>
              <a:spcAft>
                <a:spcPts val="1000"/>
              </a:spcAft>
              <a:defRPr sz="1900">
                <a:solidFill>
                  <a:srgbClr val="1E2A28"/>
                </a:solidFill>
                <a:latin typeface="Arial"/>
              </a:defRPr>
            </a:pPr>
            <a:r>
              <a:t>Then: 28 g ball falling 78 cm — compare ΔU_g with K.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589520" y="2103120"/>
            <a:ext cx="3566160" cy="1828800"/>
          </a:xfrm>
          <a:prstGeom prst="roundRect">
            <a:avLst/>
          </a:prstGeom>
          <a:solidFill>
            <a:srgbClr val="E9F5F0"/>
          </a:solidFill>
          <a:ln>
            <a:solidFill>
              <a:srgbClr val="0B6B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1E2A28"/>
                </a:solidFill>
                <a:latin typeface="Arial"/>
              </a:defRPr>
            </a:pPr>
            <a:r>
              <a:t>Habit: convert to SI → choose before/after states → write energy statement → calculate.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6217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074D39"/>
                </a:solidFill>
                <a:latin typeface="Arial"/>
              </a:defRPr>
            </a:pPr>
            <a:r>
              <a:t>Task 5 · Practical: bouncy ball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91440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B6B4F"/>
                </a:solidFill>
                <a:latin typeface="Arial"/>
              </a:defRPr>
            </a:pPr>
            <a:r>
              <a:t>AP Physics 1 · Unit 3 · Lesson 2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34440"/>
            <a:ext cx="11155680" cy="45720"/>
          </a:xfrm>
          <a:prstGeom prst="rect">
            <a:avLst/>
          </a:prstGeom>
          <a:solidFill>
            <a:srgbClr val="0B6B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bouncy_b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554480"/>
            <a:ext cx="4023360" cy="341566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846320" y="1554480"/>
            <a:ext cx="62179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900">
                <a:solidFill>
                  <a:srgbClr val="1E2A28"/>
                </a:solidFill>
                <a:latin typeface="Arial"/>
              </a:defRPr>
            </a:pPr>
            <a:r>
              <a:t>Measure mass m</a:t>
            </a:r>
          </a:p>
          <a:p>
            <a:pPr>
              <a:spcAft>
                <a:spcPts val="1000"/>
              </a:spcAft>
              <a:defRPr sz="1900">
                <a:solidFill>
                  <a:srgbClr val="1E2A28"/>
                </a:solidFill>
                <a:latin typeface="Arial"/>
              </a:defRPr>
            </a:pPr>
            <a:r>
              <a:t>Measure drop height h₁</a:t>
            </a:r>
          </a:p>
          <a:p>
            <a:pPr>
              <a:spcAft>
                <a:spcPts val="1000"/>
              </a:spcAft>
              <a:defRPr sz="1900">
                <a:solidFill>
                  <a:srgbClr val="1E2A28"/>
                </a:solidFill>
                <a:latin typeface="Arial"/>
              </a:defRPr>
            </a:pPr>
            <a:r>
              <a:t>Measure first rebound height h₂</a:t>
            </a:r>
          </a:p>
          <a:p>
            <a:pPr>
              <a:spcAft>
                <a:spcPts val="1000"/>
              </a:spcAft>
              <a:defRPr sz="1900">
                <a:solidFill>
                  <a:srgbClr val="1E2A28"/>
                </a:solidFill>
                <a:latin typeface="Arial"/>
              </a:defRPr>
            </a:pPr>
            <a:r>
              <a:t>Repeat and average</a:t>
            </a:r>
          </a:p>
          <a:p>
            <a:pPr>
              <a:spcAft>
                <a:spcPts val="1000"/>
              </a:spcAft>
              <a:defRPr sz="1900">
                <a:solidFill>
                  <a:srgbClr val="1E2A28"/>
                </a:solidFill>
                <a:latin typeface="Arial"/>
              </a:defRPr>
            </a:pPr>
            <a:r>
              <a:t>Compare mgh₁ with mgh₂</a:t>
            </a:r>
          </a:p>
          <a:p>
            <a:pPr>
              <a:spcAft>
                <a:spcPts val="1000"/>
              </a:spcAft>
              <a:defRPr sz="1900">
                <a:solidFill>
                  <a:srgbClr val="1E2A28"/>
                </a:solidFill>
                <a:latin typeface="Arial"/>
              </a:defRPr>
            </a:pPr>
            <a:r>
              <a:t>Estimate energy transferred to internal energy + sound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5212080"/>
            <a:ext cx="3566160" cy="685800"/>
          </a:xfrm>
          <a:prstGeom prst="roundRect">
            <a:avLst/>
          </a:prstGeom>
          <a:solidFill>
            <a:srgbClr val="F6E8C5"/>
          </a:solidFill>
          <a:ln>
            <a:solidFill>
              <a:srgbClr val="0B6B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1E2A28"/>
                </a:solidFill>
                <a:latin typeface="Arial"/>
              </a:defRPr>
            </a:pPr>
            <a:r>
              <a:t>Optional stopwatch cross-check:</a:t>
            </a:r>
            <a:br/>
            <a:r>
              <a:t>h₂ ≈ g(Δt)²/8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6217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074D39"/>
                </a:solidFill>
                <a:latin typeface="Arial"/>
              </a:defRPr>
            </a:pPr>
            <a:r>
              <a:t>Task 6A · Same problem, two tools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91440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B6B4F"/>
                </a:solidFill>
                <a:latin typeface="Arial"/>
              </a:defRPr>
            </a:pPr>
            <a:r>
              <a:t>AP Physics 1 · Unit 3 · Lesson 2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34440"/>
            <a:ext cx="11155680" cy="45720"/>
          </a:xfrm>
          <a:prstGeom prst="rect">
            <a:avLst/>
          </a:prstGeom>
          <a:solidFill>
            <a:srgbClr val="0B6B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ncline_050_03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00200"/>
            <a:ext cx="5120640" cy="3236793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126480" y="1828800"/>
            <a:ext cx="2286000" cy="1371600"/>
          </a:xfrm>
          <a:prstGeom prst="roundRect">
            <a:avLst/>
          </a:prstGeom>
          <a:solidFill>
            <a:srgbClr val="E9F5F0"/>
          </a:solidFill>
          <a:ln>
            <a:solidFill>
              <a:srgbClr val="0B6B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900" b="1">
                <a:solidFill>
                  <a:srgbClr val="1E2A28"/>
                </a:solidFill>
                <a:latin typeface="Arial"/>
              </a:defRPr>
            </a:pPr>
            <a:r>
              <a:t>Force &amp; motion</a:t>
            </a:r>
            <a:br/>
            <a:r>
              <a:t>angle → F∥ → a → v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732520" y="1828800"/>
            <a:ext cx="2286000" cy="1371600"/>
          </a:xfrm>
          <a:prstGeom prst="roundRect">
            <a:avLst/>
          </a:prstGeom>
          <a:solidFill>
            <a:srgbClr val="E9F5F0"/>
          </a:solidFill>
          <a:ln>
            <a:solidFill>
              <a:srgbClr val="0B6B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900" b="1">
                <a:solidFill>
                  <a:srgbClr val="1E2A28"/>
                </a:solidFill>
                <a:latin typeface="Arial"/>
              </a:defRPr>
            </a:pPr>
            <a:r>
              <a:t>Energy</a:t>
            </a:r>
            <a:br/>
            <a:r>
              <a:t>ΔU_g → K → v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12280" y="4023360"/>
            <a:ext cx="3566160" cy="822960"/>
          </a:xfrm>
          <a:prstGeom prst="roundRect">
            <a:avLst/>
          </a:prstGeom>
          <a:solidFill>
            <a:srgbClr val="F6E8C5"/>
          </a:solidFill>
          <a:ln>
            <a:solidFill>
              <a:srgbClr val="0B6B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900" b="1">
                <a:solidFill>
                  <a:srgbClr val="1E2A28"/>
                </a:solidFill>
                <a:latin typeface="Arial"/>
              </a:defRPr>
            </a:pPr>
            <a:r>
              <a:t>Both routes give v ≈ 2.4 m s⁻¹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6217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074D39"/>
                </a:solidFill>
                <a:latin typeface="Arial"/>
              </a:defRPr>
            </a:pPr>
            <a:r>
              <a:t>Task 6B · Projectile: energy tracks speed, not direction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91440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B6B4F"/>
                </a:solidFill>
                <a:latin typeface="Arial"/>
              </a:defRPr>
            </a:pPr>
            <a:r>
              <a:t>AP Physics 1 · Unit 3 · Lesson 2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34440"/>
            <a:ext cx="11155680" cy="45720"/>
          </a:xfrm>
          <a:prstGeom prst="rect">
            <a:avLst/>
          </a:prstGeom>
          <a:solidFill>
            <a:srgbClr val="0B6B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projectile_build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54480"/>
            <a:ext cx="4754880" cy="277101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0" y="1645920"/>
            <a:ext cx="56692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900">
                <a:solidFill>
                  <a:srgbClr val="1E2A28"/>
                </a:solidFill>
                <a:latin typeface="Arial"/>
              </a:defRPr>
            </a:pPr>
            <a:r>
              <a:t>At the top: v_y = 0 but v_x remains.</a:t>
            </a:r>
          </a:p>
          <a:p>
            <a:pPr>
              <a:spcAft>
                <a:spcPts val="1000"/>
              </a:spcAft>
              <a:defRPr sz="1900">
                <a:solidFill>
                  <a:srgbClr val="1E2A28"/>
                </a:solidFill>
                <a:latin typeface="Arial"/>
              </a:defRPr>
            </a:pPr>
            <a:r>
              <a:t>So kinetic energy is NOT zero at maximum height.</a:t>
            </a:r>
          </a:p>
          <a:p>
            <a:pPr>
              <a:spcAft>
                <a:spcPts val="1000"/>
              </a:spcAft>
              <a:defRPr sz="1900">
                <a:solidFill>
                  <a:srgbClr val="1E2A28"/>
                </a:solidFill>
                <a:latin typeface="Arial"/>
              </a:defRPr>
            </a:pPr>
            <a:r>
              <a:t>ΔK = −ΔU_g when air resistance is negligible.</a:t>
            </a:r>
          </a:p>
          <a:p>
            <a:pPr>
              <a:spcAft>
                <a:spcPts val="1000"/>
              </a:spcAft>
              <a:defRPr sz="1900">
                <a:solidFill>
                  <a:srgbClr val="1E2A28"/>
                </a:solidFill>
                <a:latin typeface="Arial"/>
              </a:defRPr>
            </a:pPr>
            <a:r>
              <a:t>From roof to ground, the 12 m drop adds kinetic energy.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6217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074D39"/>
                </a:solidFill>
                <a:latin typeface="Arial"/>
              </a:defRPr>
            </a:pPr>
            <a:r>
              <a:t>Task 7 · Gravitational potential beyond constant 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91440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B6B4F"/>
                </a:solidFill>
                <a:latin typeface="Arial"/>
              </a:defRPr>
            </a:pPr>
            <a:r>
              <a:t>AP Physics 1 · Unit 3 · Lesson 2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34440"/>
            <a:ext cx="11155680" cy="45720"/>
          </a:xfrm>
          <a:prstGeom prst="rect">
            <a:avLst/>
          </a:prstGeom>
          <a:solidFill>
            <a:srgbClr val="0B6B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eq_U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4114800" cy="78887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120640" y="1554480"/>
            <a:ext cx="60350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900">
                <a:solidFill>
                  <a:srgbClr val="1E2A28"/>
                </a:solidFill>
                <a:latin typeface="Arial"/>
              </a:defRPr>
            </a:pPr>
            <a:r>
              <a:t>Zero U_g is defined at infinite separation.</a:t>
            </a:r>
          </a:p>
          <a:p>
            <a:pPr>
              <a:spcAft>
                <a:spcPts val="1000"/>
              </a:spcAft>
              <a:defRPr sz="1900">
                <a:solidFill>
                  <a:srgbClr val="1E2A28"/>
                </a:solidFill>
                <a:latin typeface="Arial"/>
              </a:defRPr>
            </a:pPr>
            <a:r>
              <a:t>Bound gravitational systems have U_g &lt; 0.</a:t>
            </a:r>
          </a:p>
          <a:p>
            <a:pPr>
              <a:spcAft>
                <a:spcPts val="1000"/>
              </a:spcAft>
              <a:defRPr sz="1900">
                <a:solidFill>
                  <a:srgbClr val="1E2A28"/>
                </a:solidFill>
                <a:latin typeface="Arial"/>
              </a:defRPr>
            </a:pPr>
            <a:r>
              <a:t>ΔU_g = mgΔy is excellent near Earth when g is approximately constant.</a:t>
            </a:r>
          </a:p>
          <a:p>
            <a:pPr>
              <a:spcAft>
                <a:spcPts val="1000"/>
              </a:spcAft>
              <a:defRPr sz="1900">
                <a:solidFill>
                  <a:srgbClr val="1E2A28"/>
                </a:solidFill>
                <a:latin typeface="Arial"/>
              </a:defRPr>
            </a:pPr>
            <a:r>
              <a:t>Over an Earth-radius change, constant g is not valid.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6217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074D39"/>
                </a:solidFill>
                <a:latin typeface="Arial"/>
              </a:defRPr>
            </a:pPr>
            <a:r>
              <a:t>Task 8 · Falling with drag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91440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B6B4F"/>
                </a:solidFill>
                <a:latin typeface="Arial"/>
              </a:defRPr>
            </a:pPr>
            <a:r>
              <a:t>AP Physics 1 · Unit 3 · Lesson 2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34440"/>
            <a:ext cx="11155680" cy="45720"/>
          </a:xfrm>
          <a:prstGeom prst="rect">
            <a:avLst/>
          </a:prstGeom>
          <a:solidFill>
            <a:srgbClr val="0B6B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828800"/>
            <a:ext cx="2103120" cy="914400"/>
          </a:xfrm>
          <a:prstGeom prst="roundRect">
            <a:avLst/>
          </a:prstGeom>
          <a:solidFill>
            <a:srgbClr val="E9F5F0"/>
          </a:solidFill>
          <a:ln>
            <a:solidFill>
              <a:srgbClr val="0B6B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1E2A28"/>
                </a:solidFill>
                <a:latin typeface="Arial"/>
              </a:defRPr>
            </a:pPr>
            <a:r>
              <a:t>Lost U_g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0" y="1463040"/>
            <a:ext cx="2011680" cy="777240"/>
          </a:xfrm>
          <a:prstGeom prst="roundRect">
            <a:avLst/>
          </a:prstGeom>
          <a:solidFill>
            <a:srgbClr val="E9F5F0"/>
          </a:solidFill>
          <a:ln>
            <a:solidFill>
              <a:srgbClr val="0B6B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100" b="1">
                <a:solidFill>
                  <a:srgbClr val="1E2A28"/>
                </a:solidFill>
                <a:latin typeface="Arial"/>
              </a:defRPr>
            </a:pPr>
            <a:r>
              <a:t>→ 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0" y="2743200"/>
            <a:ext cx="2011680" cy="777240"/>
          </a:xfrm>
          <a:prstGeom prst="roundRect">
            <a:avLst/>
          </a:prstGeom>
          <a:solidFill>
            <a:srgbClr val="F6E8C5"/>
          </a:solidFill>
          <a:ln>
            <a:solidFill>
              <a:srgbClr val="0B6B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100" b="1">
                <a:solidFill>
                  <a:srgbClr val="1E2A28"/>
                </a:solidFill>
                <a:latin typeface="Arial"/>
              </a:defRPr>
            </a:pPr>
            <a:r>
              <a:t>→ ΔU_int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645920"/>
            <a:ext cx="49377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900">
                <a:solidFill>
                  <a:srgbClr val="1E2A28"/>
                </a:solidFill>
                <a:latin typeface="Arial"/>
              </a:defRPr>
            </a:pPr>
            <a:r>
              <a:t>If half the gravitational-energy decrease becomes internal energy, only half is available as K.</a:t>
            </a:r>
          </a:p>
          <a:p>
            <a:pPr>
              <a:spcAft>
                <a:spcPts val="1000"/>
              </a:spcAft>
              <a:defRPr sz="1900">
                <a:solidFill>
                  <a:srgbClr val="1E2A28"/>
                </a:solidFill>
                <a:latin typeface="Arial"/>
              </a:defRPr>
            </a:pPr>
            <a:r>
              <a:t>Use kinematics to infer acceleration, then Newton’s 2nd law to infer drag.</a:t>
            </a:r>
          </a:p>
          <a:p>
            <a:pPr>
              <a:spcAft>
                <a:spcPts val="1000"/>
              </a:spcAft>
              <a:defRPr sz="1900">
                <a:solidFill>
                  <a:srgbClr val="1E2A28"/>
                </a:solidFill>
                <a:latin typeface="Arial"/>
              </a:defRPr>
            </a:pPr>
            <a:r>
              <a:t>No work equation needed.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6217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074D39"/>
                </a:solidFill>
                <a:latin typeface="Arial"/>
              </a:defRPr>
            </a:pPr>
            <a:r>
              <a:t>Task 9 · Generalise by deriving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91440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B6B4F"/>
                </a:solidFill>
                <a:latin typeface="Arial"/>
              </a:defRPr>
            </a:pPr>
            <a:r>
              <a:t>AP Physics 1 · Unit 3 · Lesson 2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34440"/>
            <a:ext cx="11155680" cy="45720"/>
          </a:xfrm>
          <a:prstGeom prst="rect">
            <a:avLst/>
          </a:prstGeom>
          <a:solidFill>
            <a:srgbClr val="0B6B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828800"/>
            <a:ext cx="3383280" cy="1188720"/>
          </a:xfrm>
          <a:prstGeom prst="roundRect">
            <a:avLst/>
          </a:prstGeom>
          <a:solidFill>
            <a:srgbClr val="E9F5F0"/>
          </a:solidFill>
          <a:ln>
            <a:solidFill>
              <a:srgbClr val="0B6B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1E2A28"/>
                </a:solidFill>
                <a:latin typeface="Arial"/>
              </a:defRPr>
            </a:pPr>
            <a:r>
              <a:t>Start from rest</a:t>
            </a:r>
            <a:br/>
            <a:r>
              <a:t>MgH = ½Mv²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657600"/>
            <a:ext cx="3383280" cy="868680"/>
          </a:xfrm>
          <a:prstGeom prst="roundRect">
            <a:avLst/>
          </a:prstGeom>
          <a:solidFill>
            <a:srgbClr val="F6E8C5"/>
          </a:solidFill>
          <a:ln>
            <a:solidFill>
              <a:srgbClr val="0B6B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1E2A28"/>
                </a:solidFill>
                <a:latin typeface="Arial"/>
              </a:defRPr>
            </a:pPr>
            <a:r>
              <a:t>v = √(2gH)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663440" y="1828800"/>
            <a:ext cx="4389120" cy="1188720"/>
          </a:xfrm>
          <a:prstGeom prst="roundRect">
            <a:avLst/>
          </a:prstGeom>
          <a:solidFill>
            <a:srgbClr val="E9F5F0"/>
          </a:solidFill>
          <a:ln>
            <a:solidFill>
              <a:srgbClr val="0B6B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1E2A28"/>
                </a:solidFill>
                <a:latin typeface="Arial"/>
              </a:defRPr>
            </a:pPr>
            <a:r>
              <a:t>With initial v₀</a:t>
            </a:r>
            <a:br/>
            <a:r>
              <a:t>½Mv₀² + MgH = ½Mv²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166360" y="3657600"/>
            <a:ext cx="3383280" cy="868680"/>
          </a:xfrm>
          <a:prstGeom prst="roundRect">
            <a:avLst/>
          </a:prstGeom>
          <a:solidFill>
            <a:srgbClr val="F6E8C5"/>
          </a:solidFill>
          <a:ln>
            <a:solidFill>
              <a:srgbClr val="0B6B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1E2A28"/>
                </a:solidFill>
                <a:latin typeface="Arial"/>
              </a:defRPr>
            </a:pPr>
            <a:r>
              <a:t>v² = v₀² + 2gH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493776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>
                <a:solidFill>
                  <a:srgbClr val="1E2A28"/>
                </a:solidFill>
                <a:latin typeface="Arial"/>
              </a:defRPr>
            </a:pPr>
            <a:r>
              <a:t>Same physics, different representation: the result matches kinematics.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6217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074D39"/>
                </a:solidFill>
                <a:latin typeface="Arial"/>
              </a:defRPr>
            </a:pPr>
            <a:r>
              <a:t>Task 10 · Projectiles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91440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B6B4F"/>
                </a:solidFill>
                <a:latin typeface="Arial"/>
              </a:defRPr>
            </a:pPr>
            <a:r>
              <a:t>AP Physics 1 · Unit 3 · Lesson 2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34440"/>
            <a:ext cx="11155680" cy="45720"/>
          </a:xfrm>
          <a:prstGeom prst="rect">
            <a:avLst/>
          </a:prstGeom>
          <a:solidFill>
            <a:srgbClr val="0B6B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57607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1E2A28"/>
                </a:solidFill>
                <a:latin typeface="Arial"/>
              </a:defRPr>
            </a:pPr>
            <a:r>
              <a:t>Horizontal launch: initial K + gravitational decrease → final K.</a:t>
            </a:r>
          </a:p>
          <a:p>
            <a:pPr>
              <a:spcAft>
                <a:spcPts val="1000"/>
              </a:spcAft>
              <a:defRPr sz="2000">
                <a:solidFill>
                  <a:srgbClr val="1E2A28"/>
                </a:solidFill>
                <a:latin typeface="Arial"/>
              </a:defRPr>
            </a:pPr>
            <a:r>
              <a:t>Angled launch: at the top only the vertical velocity component becomes zero.</a:t>
            </a:r>
          </a:p>
          <a:p>
            <a:pPr>
              <a:spcAft>
                <a:spcPts val="1000"/>
              </a:spcAft>
              <a:defRPr sz="2000">
                <a:solidFill>
                  <a:srgbClr val="1E2A28"/>
                </a:solidFill>
                <a:latin typeface="Arial"/>
              </a:defRPr>
            </a:pPr>
            <a:r>
              <a:t>Energy often avoids finding time.</a:t>
            </a:r>
          </a:p>
          <a:p>
            <a:pPr>
              <a:spcAft>
                <a:spcPts val="1000"/>
              </a:spcAft>
              <a:defRPr sz="2000">
                <a:solidFill>
                  <a:srgbClr val="1E2A28"/>
                </a:solidFill>
                <a:latin typeface="Arial"/>
              </a:defRPr>
            </a:pPr>
            <a:r>
              <a:t>But velocity components still matter when you need K at the highest point.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0" y="2286000"/>
            <a:ext cx="3840480" cy="1371600"/>
          </a:xfrm>
          <a:prstGeom prst="roundRect">
            <a:avLst/>
          </a:prstGeom>
          <a:solidFill>
            <a:srgbClr val="E9F5F0"/>
          </a:solidFill>
          <a:ln>
            <a:solidFill>
              <a:srgbClr val="0B6B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300" b="1">
                <a:solidFill>
                  <a:srgbClr val="1E2A28"/>
                </a:solidFill>
                <a:latin typeface="Arial"/>
              </a:defRPr>
            </a:pPr>
            <a:r>
              <a:t>General impact speed</a:t>
            </a:r>
            <a:br/>
            <a:r>
              <a:t>v = √(v₀² + 2gH)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6217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074D39"/>
                </a:solidFill>
                <a:latin typeface="Arial"/>
              </a:defRPr>
            </a:pPr>
            <a:r>
              <a:t>Task 11 · Inclines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91440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B6B4F"/>
                </a:solidFill>
                <a:latin typeface="Arial"/>
              </a:defRPr>
            </a:pPr>
            <a:r>
              <a:t>AP Physics 1 · Unit 3 · Lesson 2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34440"/>
            <a:ext cx="11155680" cy="45720"/>
          </a:xfrm>
          <a:prstGeom prst="rect">
            <a:avLst/>
          </a:prstGeom>
          <a:solidFill>
            <a:srgbClr val="0B6B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ncline_30_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554480"/>
            <a:ext cx="4754880" cy="2876409"/>
          </a:xfrm>
          <a:prstGeom prst="rect">
            <a:avLst/>
          </a:prstGeom>
        </p:spPr>
      </p:pic>
      <p:pic>
        <p:nvPicPr>
          <p:cNvPr id="6" name="Picture 5" descr="eq_incli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0" y="1920240"/>
            <a:ext cx="4297680" cy="82393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852160" y="3200400"/>
            <a:ext cx="48463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900">
                <a:solidFill>
                  <a:srgbClr val="1E2A28"/>
                </a:solidFill>
                <a:latin typeface="Arial"/>
              </a:defRPr>
            </a:pPr>
            <a:r>
              <a:t>h = d sinθ</a:t>
            </a:r>
          </a:p>
          <a:p>
            <a:pPr>
              <a:spcAft>
                <a:spcPts val="1000"/>
              </a:spcAft>
              <a:defRPr sz="1900">
                <a:solidFill>
                  <a:srgbClr val="1E2A28"/>
                </a:solidFill>
                <a:latin typeface="Arial"/>
              </a:defRPr>
            </a:pPr>
            <a:r>
              <a:t>Mass cancels for a frictionless plane</a:t>
            </a:r>
          </a:p>
          <a:p>
            <a:pPr>
              <a:spcAft>
                <a:spcPts val="1000"/>
              </a:spcAft>
              <a:defRPr sz="1900">
                <a:solidFill>
                  <a:srgbClr val="1E2A28"/>
                </a:solidFill>
                <a:latin typeface="Arial"/>
              </a:defRPr>
            </a:pPr>
            <a:r>
              <a:t>Energy gets the speed directly without first finding acceleration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6217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074D39"/>
                </a:solidFill>
                <a:latin typeface="Arial"/>
              </a:defRPr>
            </a:pPr>
            <a:r>
              <a:t>Task 12 · Challenge algebra: rough incline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91440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B6B4F"/>
                </a:solidFill>
                <a:latin typeface="Arial"/>
              </a:defRPr>
            </a:pPr>
            <a:r>
              <a:t>AP Physics 1 · Unit 3 · Lesson 2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34440"/>
            <a:ext cx="11155680" cy="45720"/>
          </a:xfrm>
          <a:prstGeom prst="rect">
            <a:avLst/>
          </a:prstGeom>
          <a:solidFill>
            <a:srgbClr val="0B6B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554480"/>
            <a:ext cx="56692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900">
                <a:solidFill>
                  <a:srgbClr val="1E2A28"/>
                </a:solidFill>
                <a:latin typeface="Arial"/>
              </a:defRPr>
            </a:pPr>
            <a:r>
              <a:t>d = h/sinθ</a:t>
            </a:r>
          </a:p>
          <a:p>
            <a:pPr>
              <a:spcAft>
                <a:spcPts val="1000"/>
              </a:spcAft>
              <a:defRPr sz="1900">
                <a:solidFill>
                  <a:srgbClr val="1E2A28"/>
                </a:solidFill>
                <a:latin typeface="Arial"/>
              </a:defRPr>
            </a:pPr>
            <a:r>
              <a:t>F_f = μmg cosθ</a:t>
            </a:r>
          </a:p>
          <a:p>
            <a:pPr>
              <a:spcAft>
                <a:spcPts val="1000"/>
              </a:spcAft>
              <a:defRPr sz="1900">
                <a:solidFill>
                  <a:srgbClr val="1E2A28"/>
                </a:solidFill>
                <a:latin typeface="Arial"/>
              </a:defRPr>
            </a:pPr>
            <a:r>
              <a:t>a = g(sinθ − μcosθ)</a:t>
            </a:r>
          </a:p>
          <a:p>
            <a:pPr>
              <a:spcAft>
                <a:spcPts val="1000"/>
              </a:spcAft>
              <a:defRPr sz="1900">
                <a:solidFill>
                  <a:srgbClr val="1E2A28"/>
                </a:solidFill>
                <a:latin typeface="Arial"/>
              </a:defRPr>
            </a:pPr>
            <a:r>
              <a:t>v = √[2gh(1 − μcotθ)]</a:t>
            </a:r>
          </a:p>
          <a:p>
            <a:pPr>
              <a:spcAft>
                <a:spcPts val="1000"/>
              </a:spcAft>
              <a:defRPr sz="1900">
                <a:solidFill>
                  <a:srgbClr val="1E2A28"/>
                </a:solidFill>
                <a:latin typeface="Arial"/>
              </a:defRPr>
            </a:pPr>
            <a:r>
              <a:t>K_f = mgh(1 − μcotθ)</a:t>
            </a:r>
          </a:p>
        </p:txBody>
      </p:sp>
      <p:pic>
        <p:nvPicPr>
          <p:cNvPr id="6" name="Picture 5" descr="eq_roug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2011680"/>
            <a:ext cx="4389120" cy="841464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0" y="3749039"/>
            <a:ext cx="4389120" cy="1097280"/>
          </a:xfrm>
          <a:prstGeom prst="roundRect">
            <a:avLst/>
          </a:prstGeom>
          <a:solidFill>
            <a:srgbClr val="F6E8C5"/>
          </a:solidFill>
          <a:ln>
            <a:solidFill>
              <a:srgbClr val="0B6B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1E2A28"/>
                </a:solidFill>
                <a:latin typeface="Arial"/>
              </a:defRPr>
            </a:pPr>
            <a:r>
              <a:t>Use conservation of energy for the final internal-energy step — not W = Fd.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6217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074D39"/>
                </a:solidFill>
                <a:latin typeface="Arial"/>
              </a:defRPr>
            </a:pPr>
            <a:r>
              <a:t>Exit check · What should be automatic now?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91440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B6B4F"/>
                </a:solidFill>
                <a:latin typeface="Arial"/>
              </a:defRPr>
            </a:pPr>
            <a:r>
              <a:t>AP Physics 1 · Unit 3 · Lesson 2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34440"/>
            <a:ext cx="11155680" cy="45720"/>
          </a:xfrm>
          <a:prstGeom prst="rect">
            <a:avLst/>
          </a:prstGeom>
          <a:solidFill>
            <a:srgbClr val="0B6B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554480"/>
            <a:ext cx="101498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>
                <a:solidFill>
                  <a:srgbClr val="1E2A28"/>
                </a:solidFill>
                <a:latin typeface="Arial"/>
              </a:defRPr>
            </a:pPr>
            <a:r>
              <a:t>Identify the dominant energy transfer before calculating.</a:t>
            </a:r>
          </a:p>
          <a:p>
            <a:pPr>
              <a:spcAft>
                <a:spcPts val="1000"/>
              </a:spcAft>
              <a:defRPr sz="2200">
                <a:solidFill>
                  <a:srgbClr val="1E2A28"/>
                </a:solidFill>
                <a:latin typeface="Arial"/>
              </a:defRPr>
            </a:pPr>
            <a:r>
              <a:t>Choose clear initial and final states.</a:t>
            </a:r>
          </a:p>
          <a:p>
            <a:pPr>
              <a:spcAft>
                <a:spcPts val="1000"/>
              </a:spcAft>
              <a:defRPr sz="2200">
                <a:solidFill>
                  <a:srgbClr val="1E2A28"/>
                </a:solidFill>
                <a:latin typeface="Arial"/>
              </a:defRPr>
            </a:pPr>
            <a:r>
              <a:t>Write total energy before = total energy after.</a:t>
            </a:r>
          </a:p>
          <a:p>
            <a:pPr>
              <a:spcAft>
                <a:spcPts val="1000"/>
              </a:spcAft>
              <a:defRPr sz="2200">
                <a:solidFill>
                  <a:srgbClr val="1E2A28"/>
                </a:solidFill>
                <a:latin typeface="Arial"/>
              </a:defRPr>
            </a:pPr>
            <a:r>
              <a:t>Use correct notation: K, ΔU_g, U_g, U_s, ΔU_int.</a:t>
            </a:r>
          </a:p>
          <a:p>
            <a:pPr>
              <a:spcAft>
                <a:spcPts val="1000"/>
              </a:spcAft>
              <a:defRPr sz="2200">
                <a:solidFill>
                  <a:srgbClr val="1E2A28"/>
                </a:solidFill>
                <a:latin typeface="Arial"/>
              </a:defRPr>
            </a:pPr>
            <a:r>
              <a:t>Recognise when force-and-motion or energy is the cleaner tool.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
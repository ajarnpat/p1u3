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196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Physics 1 · Unit 3 · Lesson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18320" y="65196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energy?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"/>
            <a:ext cx="12191695" cy="6400800"/>
          </a:xfrm>
          <a:prstGeom prst="rect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51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E5D6"/>
                </a:solidFill>
              </a:rPr>
              <a:t>AP PHYSICS 1 · UNIT 3 · LESSON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What is energy?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49808" y="245059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F5F0"/>
                </a:solidFill>
              </a:rPr>
              <a:t>Types of energy · AP notation · first calculations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38160" y="123444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1353312"/>
            <a:ext cx="11887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KINETIC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46920" y="1426464"/>
            <a:ext cx="411480" cy="41148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04120" y="1627632"/>
            <a:ext cx="594360" cy="0"/>
          </a:xfrm>
          <a:prstGeom prst="line">
            <a:avLst/>
          </a:prstGeom>
          <a:noFill/>
          <a:ln w="38100">
            <a:solidFill>
              <a:srgbClr val="1B5E8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42316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195560" y="2651760"/>
            <a:ext cx="0" cy="475488"/>
          </a:xfrm>
          <a:prstGeom prst="line">
            <a:avLst/>
          </a:prstGeom>
          <a:noFill/>
          <a:ln w="25400">
            <a:solidFill>
              <a:srgbClr val="1E2A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85248" y="2880360"/>
            <a:ext cx="420624" cy="320040"/>
          </a:xfrm>
          <a:prstGeom prst="rect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3611880"/>
            <a:ext cx="2971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730752"/>
            <a:ext cx="1554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55480" y="3831336"/>
            <a:ext cx="11430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+ U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49808" y="52578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Unit test: 16 / 17 November 2026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this lesson 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Unit 3: Work, Energy, and Power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41732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E9F5F0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3794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types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98064" y="141732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50876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07792" y="183794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Transfers + conservation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65776" y="141732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5504" y="150876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75504" y="183794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33488" y="141732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43216" y="150876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43216" y="183794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 work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0" y="141732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0928" y="150876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10928" y="183794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Spring-energy derivation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" y="329184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8328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71246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Work-energy + systems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798064" y="329184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338328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07792" y="371246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65776" y="329184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338328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75504" y="371246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Assessed lab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33488" y="329184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43216" y="338328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43216" y="371246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601200" y="3291840"/>
            <a:ext cx="1993392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10928" y="3383280"/>
            <a:ext cx="438912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10928" y="3712464"/>
            <a:ext cx="1755648" cy="594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06640" y="5230368"/>
            <a:ext cx="4160520" cy="640080"/>
          </a:xfrm>
          <a:prstGeom prst="roundRect">
            <a:avLst/>
          </a:prstGeom>
          <a:solidFill>
            <a:srgbClr val="FFF5D9"/>
          </a:solidFill>
          <a:ln w="12700">
            <a:solidFill>
              <a:srgbClr val="E7CF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43800" y="5349240"/>
            <a:ext cx="38862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unit test: 16 / 17 November 2026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enquiry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Use the HTML walkthrough + paper work-pack together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438912" cy="438912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335024"/>
            <a:ext cx="438912" cy="2414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6583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useful definition of energy and recall its SI unit.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148840"/>
            <a:ext cx="438912" cy="438912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157984"/>
            <a:ext cx="438912" cy="2414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6583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GREENSICK as a memory aid for familiar forms/stores.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2971800"/>
            <a:ext cx="438912" cy="438912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80944"/>
            <a:ext cx="438912" cy="2414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971800"/>
            <a:ext cx="6583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kinetic and potential energy in a broad sense.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3794760"/>
            <a:ext cx="438912" cy="438912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803904"/>
            <a:ext cx="438912" cy="2414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6583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AP-style energy symbols and equations.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4617720"/>
            <a:ext cx="438912" cy="438912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626864"/>
            <a:ext cx="438912" cy="2414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617720"/>
            <a:ext cx="65836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directly, convert to SI, then rearrange equations.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75320" y="1417320"/>
            <a:ext cx="3246120" cy="33375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627632"/>
            <a:ext cx="137160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49640" y="2148840"/>
            <a:ext cx="2468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+ write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765792" y="2423160"/>
            <a:ext cx="0" cy="201168"/>
          </a:xfrm>
          <a:prstGeom prst="line">
            <a:avLst/>
          </a:prstGeom>
          <a:noFill/>
          <a:ln w="25400">
            <a:solidFill>
              <a:srgbClr val="0B6B4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549640" y="2642616"/>
            <a:ext cx="2468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 note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65792" y="2916936"/>
            <a:ext cx="0" cy="201168"/>
          </a:xfrm>
          <a:prstGeom prst="line">
            <a:avLst/>
          </a:prstGeom>
          <a:noFill/>
          <a:ln w="25400">
            <a:solidFill>
              <a:srgbClr val="0B6B4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549640" y="3136392"/>
            <a:ext cx="2468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the problem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765792" y="3410712"/>
            <a:ext cx="0" cy="201168"/>
          </a:xfrm>
          <a:prstGeom prst="line">
            <a:avLst/>
          </a:prstGeom>
          <a:noFill/>
          <a:ln w="25400">
            <a:solidFill>
              <a:srgbClr val="0B6B4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549640" y="3630168"/>
            <a:ext cx="2468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hint if needed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65792" y="3904488"/>
            <a:ext cx="0" cy="201168"/>
          </a:xfrm>
          <a:prstGeom prst="line">
            <a:avLst/>
          </a:prstGeom>
          <a:noFill/>
          <a:ln w="25400">
            <a:solidFill>
              <a:srgbClr val="0B6B4F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549640" y="4123944"/>
            <a:ext cx="2468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worked solution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75320" y="4956048"/>
            <a:ext cx="3246120" cy="640080"/>
          </a:xfrm>
          <a:prstGeom prst="roundRect">
            <a:avLst>
              <a:gd name="adj" fmla="val 17143"/>
            </a:avLst>
          </a:prstGeom>
          <a:solidFill>
            <a:srgbClr val="FFF7E8"/>
          </a:solidFill>
          <a:ln w="12700">
            <a:solidFill>
              <a:srgbClr val="E1B5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0768" y="5065776"/>
            <a:ext cx="29260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6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W = Fd today — mechanical work comes in L4.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energy?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Start with your own model — do not reveal notes yet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34747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IS ...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121408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359152"/>
            <a:ext cx="46634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one-sentence definition in your work-pack.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2688" y="2907792"/>
            <a:ext cx="4663440" cy="8412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energy allow us to account for?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it disappear?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energy a vector or a scalar?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892040" cy="3429000"/>
          </a:xfrm>
          <a:prstGeom prst="roundRect">
            <a:avLst>
              <a:gd name="adj" fmla="val 3200"/>
            </a:avLst>
          </a:prstGeom>
          <a:solidFill>
            <a:srgbClr val="E9F5F0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discussion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2103120"/>
            <a:ext cx="443484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is a scalar accounting quantity used to describe the state of an object/system and the changes that can occur.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3310128"/>
            <a:ext cx="42976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can be transferred and transformed.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energy is conserved.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4187952"/>
            <a:ext cx="40233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unit: joule (J)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GREENSICK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A memory aid for familiar energy forms/stores — not a formal AP taxonomy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43000" y="1417320"/>
            <a:ext cx="621792" cy="621792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42646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929384" y="150876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Gravitational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621792" cy="621792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2646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86984" y="150876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58200" y="1417320"/>
            <a:ext cx="621792" cy="621792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42646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244584" y="150876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2834640"/>
            <a:ext cx="621792" cy="621792"/>
          </a:xfrm>
          <a:prstGeom prst="ellipse">
            <a:avLst/>
          </a:prstGeom>
          <a:solidFill>
            <a:srgbClr val="6B4BA1"/>
          </a:solidFill>
          <a:ln w="12700">
            <a:solidFill>
              <a:srgbClr val="6B4B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84378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9384" y="292608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621792" cy="621792"/>
          </a:xfrm>
          <a:prstGeom prst="ellipse">
            <a:avLst/>
          </a:prstGeom>
          <a:solidFill>
            <a:srgbClr val="9A485C"/>
          </a:solidFill>
          <a:ln w="12700">
            <a:solidFill>
              <a:srgbClr val="9A4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4378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86984" y="292608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Nuclear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458200" y="2834640"/>
            <a:ext cx="621792" cy="621792"/>
          </a:xfrm>
          <a:prstGeom prst="ellipse">
            <a:avLst/>
          </a:prstGeom>
          <a:solidFill>
            <a:srgbClr val="3E7D8F"/>
          </a:solidFill>
          <a:ln w="12700">
            <a:solidFill>
              <a:srgbClr val="3E7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84378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44584" y="292608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143000" y="4251960"/>
            <a:ext cx="621792" cy="621792"/>
          </a:xfrm>
          <a:prstGeom prst="ellipse">
            <a:avLst/>
          </a:prstGeom>
          <a:solidFill>
            <a:srgbClr val="C56C24"/>
          </a:solidFill>
          <a:ln w="12700">
            <a:solidFill>
              <a:srgbClr val="C56C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26110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929384" y="434340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00600" y="4251960"/>
            <a:ext cx="621792" cy="621792"/>
          </a:xfrm>
          <a:prstGeom prst="ellipse">
            <a:avLst/>
          </a:prstGeom>
          <a:solidFill>
            <a:srgbClr val="557A34"/>
          </a:solidFill>
          <a:ln w="12700">
            <a:solidFill>
              <a:srgbClr val="557A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426110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86984" y="434340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Chemical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458200" y="4251960"/>
            <a:ext cx="621792" cy="621792"/>
          </a:xfrm>
          <a:prstGeom prst="ellipse">
            <a:avLst/>
          </a:prstGeom>
          <a:solidFill>
            <a:srgbClr val="315D8E"/>
          </a:solidFill>
          <a:ln w="12700">
            <a:solidFill>
              <a:srgbClr val="315D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58200" y="4261104"/>
            <a:ext cx="621792" cy="34198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244584" y="4343400"/>
            <a:ext cx="2423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Kinetic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05840" y="5806440"/>
            <a:ext cx="101498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Deeper physics: many familiar “forms” can be modeled as kinetic and/or potential energy at a microscopic level.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broad categories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Kinetic energy ↔ motion · Potential energy ↔ configuration of an interacting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54480"/>
            <a:ext cx="182880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KINETIC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51560" y="2423160"/>
            <a:ext cx="1143000" cy="502920"/>
          </a:xfrm>
          <a:prstGeom prst="rect">
            <a:avLst/>
          </a:prstGeom>
          <a:solidFill>
            <a:srgbClr val="86B6D9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788920"/>
            <a:ext cx="256032" cy="256032"/>
          </a:xfrm>
          <a:prstGeom prst="ellipse">
            <a:avLst/>
          </a:prstGeom>
          <a:solidFill>
            <a:srgbClr val="1E2A28"/>
          </a:solidFill>
          <a:ln w="12700">
            <a:solidFill>
              <a:srgbClr val="1E2A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788920"/>
            <a:ext cx="256032" cy="256032"/>
          </a:xfrm>
          <a:prstGeom prst="ellipse">
            <a:avLst/>
          </a:prstGeom>
          <a:solidFill>
            <a:srgbClr val="1E2A28"/>
          </a:solidFill>
          <a:ln w="12700">
            <a:solidFill>
              <a:srgbClr val="1E2A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2670048"/>
            <a:ext cx="960120" cy="0"/>
          </a:xfrm>
          <a:prstGeom prst="line">
            <a:avLst/>
          </a:prstGeom>
          <a:noFill/>
          <a:ln w="50800">
            <a:solidFill>
              <a:srgbClr val="1B5E8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32688" y="3200400"/>
            <a:ext cx="26517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translational 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2304288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1B5E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148840"/>
            <a:ext cx="1188720" cy="1188720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1B5E8C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401568" y="3200400"/>
            <a:ext cx="17830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rotational 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353312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949440" y="2331720"/>
            <a:ext cx="0" cy="1097280"/>
          </a:xfrm>
          <a:prstGeom prst="line">
            <a:avLst/>
          </a:prstGeom>
          <a:noFill/>
          <a:ln w="25400">
            <a:solidFill>
              <a:srgbClr val="1E2A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2148840"/>
            <a:ext cx="457200" cy="365760"/>
          </a:xfrm>
          <a:prstGeom prst="rect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3310128"/>
            <a:ext cx="960120" cy="0"/>
          </a:xfrm>
          <a:prstGeom prst="line">
            <a:avLst/>
          </a:prstGeom>
          <a:noFill/>
          <a:ln w="25400">
            <a:solidFill>
              <a:srgbClr val="1E2A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3456432"/>
            <a:ext cx="24688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object–Earth system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89720" y="2194560"/>
            <a:ext cx="0" cy="1234440"/>
          </a:xfrm>
          <a:prstGeom prst="line">
            <a:avLst/>
          </a:prstGeom>
          <a:noFill/>
          <a:ln w="38100">
            <a:solidFill>
              <a:srgbClr val="1E2A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2642616"/>
            <a:ext cx="164592" cy="292608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54312" y="2935224"/>
            <a:ext cx="164592" cy="-292608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18904" y="2642616"/>
            <a:ext cx="164592" cy="292608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83496" y="2935224"/>
            <a:ext cx="164592" cy="-292608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48088" y="2642616"/>
            <a:ext cx="164592" cy="292608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12680" y="2935224"/>
            <a:ext cx="164592" cy="-292608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77272" y="2642616"/>
            <a:ext cx="164592" cy="292608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41864" y="2935224"/>
            <a:ext cx="164592" cy="-292608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2514600"/>
            <a:ext cx="594360" cy="548640"/>
          </a:xfrm>
          <a:prstGeom prst="rect">
            <a:avLst/>
          </a:prstGeom>
          <a:solidFill>
            <a:srgbClr val="E4A76F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9720" y="3456432"/>
            <a:ext cx="19659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system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25880" y="5870448"/>
            <a:ext cx="95554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energy belongs to the SYSTEM, not to a lone object.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AP-style energy notation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Students match the symbols in the work-pack before revealing the meanings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23134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" y="2121408"/>
            <a:ext cx="23317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translational kinetic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55848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600200"/>
            <a:ext cx="23134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93008" y="2121408"/>
            <a:ext cx="23317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rotational kinetic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600200"/>
            <a:ext cx="23134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ΔU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81928" y="2121408"/>
            <a:ext cx="23317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near-surface gravitational PE change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33688" y="14173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9992" y="1600200"/>
            <a:ext cx="231343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70848" y="2121408"/>
            <a:ext cx="23317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gravitational PE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94760"/>
            <a:ext cx="29535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4088" y="4315968"/>
            <a:ext cx="297180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potential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059936" y="36118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794760"/>
            <a:ext cx="29535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ΔU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197096" y="4315968"/>
            <a:ext cx="297180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internal-energy change*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552944" y="36118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9248" y="3794760"/>
            <a:ext cx="295351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pPr algn="ctr" indent="0" marL="0">
              <a:buNone/>
            </a:pPr>
            <a:r>
              <a:rPr lang="en-US" sz="2400" b="1" baseline="-40000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90104" y="4315968"/>
            <a:ext cx="297180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 energy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3232" y="5596128"/>
            <a:ext cx="10789920" cy="5303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ΔU_int is bookkeeping notation used in this course. The current AP Physics 1 CED requires awareness of dissipation to thermal/sound but does not print a separate ΔU_int equation.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Kinetic energy equations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Both are scalar energies measured in joules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949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27632"/>
            <a:ext cx="21945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130552"/>
            <a:ext cx="43434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½mv²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2834640"/>
            <a:ext cx="40690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in kg · v in m s⁻¹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65960" y="3822192"/>
            <a:ext cx="1325880" cy="512064"/>
          </a:xfrm>
          <a:prstGeom prst="rect">
            <a:avLst/>
          </a:prstGeom>
          <a:solidFill>
            <a:srgbClr val="86B6D9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8840" y="4233672"/>
            <a:ext cx="274320" cy="274320"/>
          </a:xfrm>
          <a:prstGeom prst="ellipse">
            <a:avLst/>
          </a:prstGeom>
          <a:solidFill>
            <a:srgbClr val="1E2A28"/>
          </a:solidFill>
          <a:ln w="12700">
            <a:solidFill>
              <a:srgbClr val="1E2A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4233672"/>
            <a:ext cx="274320" cy="274320"/>
          </a:xfrm>
          <a:prstGeom prst="ellipse">
            <a:avLst/>
          </a:prstGeom>
          <a:solidFill>
            <a:srgbClr val="1E2A28"/>
          </a:solidFill>
          <a:ln w="12700">
            <a:solidFill>
              <a:srgbClr val="1E2A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4069080"/>
            <a:ext cx="960120" cy="0"/>
          </a:xfrm>
          <a:prstGeom prst="line">
            <a:avLst/>
          </a:prstGeom>
          <a:noFill/>
          <a:ln w="50800">
            <a:solidFill>
              <a:srgbClr val="1B5E8C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840480" y="3703320"/>
            <a:ext cx="320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9632" y="137160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27632"/>
            <a:ext cx="33832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ROTATIONAL — preview of Unit 6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2130552"/>
            <a:ext cx="4434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pPr algn="ctr" indent="0" marL="0">
              <a:buNone/>
            </a:pPr>
            <a:r>
              <a:rPr lang="en-US" sz="3000" b="1" baseline="-400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pPr algn="ctr" indent="0" marL="0">
              <a:buNone/>
            </a:pPr>
            <a:r>
              <a:rPr lang="en-US" sz="30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½Iω²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0" y="2834640"/>
            <a:ext cx="406908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in kg m² · ω in rad s⁻¹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3657600"/>
            <a:ext cx="1051560" cy="1051560"/>
          </a:xfrm>
          <a:prstGeom prst="ellipse">
            <a:avLst/>
          </a:prstGeom>
          <a:solidFill>
            <a:srgbClr val="FFFFFF">
              <a:alpha val="0"/>
            </a:srgbClr>
          </a:solidFill>
          <a:ln w="50800">
            <a:solidFill>
              <a:srgbClr val="0B6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703320"/>
            <a:ext cx="0" cy="960120"/>
          </a:xfrm>
          <a:prstGeom prst="line">
            <a:avLst/>
          </a:prstGeom>
          <a:noFill/>
          <a:ln w="25400">
            <a:solidFill>
              <a:srgbClr val="0B6B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4187952"/>
            <a:ext cx="960120" cy="0"/>
          </a:xfrm>
          <a:prstGeom prst="line">
            <a:avLst/>
          </a:prstGeom>
          <a:noFill/>
          <a:ln w="25400">
            <a:solidFill>
              <a:srgbClr val="0B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28048" y="3977640"/>
            <a:ext cx="41148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Potential-energy equations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Ask first: what objects belong to the system?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3716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627632"/>
            <a:ext cx="32004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A PLANET SURFACE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4944" y="2148840"/>
            <a:ext cx="3200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ΔU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mgΔy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306324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approximately constant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856232" y="3474720"/>
            <a:ext cx="0" cy="914400"/>
          </a:xfrm>
          <a:prstGeom prst="line">
            <a:avLst/>
          </a:prstGeom>
          <a:noFill/>
          <a:ln w="25400">
            <a:solidFill>
              <a:srgbClr val="1E2A2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09344" y="3273552"/>
            <a:ext cx="493776" cy="347472"/>
          </a:xfrm>
          <a:prstGeom prst="rect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6272" y="3794760"/>
            <a:ext cx="5029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4800600"/>
            <a:ext cx="29718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 change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627632"/>
            <a:ext cx="32004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GRAVITATION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53712" y="2148840"/>
            <a:ext cx="3200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−Gm₁m₂ / r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617720" y="2788920"/>
            <a:ext cx="306324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at infinity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74920" y="3401568"/>
            <a:ext cx="777240" cy="777240"/>
          </a:xfrm>
          <a:prstGeom prst="ellipse">
            <a:avLst/>
          </a:prstGeom>
          <a:solidFill>
            <a:srgbClr val="5B8DC2"/>
          </a:solidFill>
          <a:ln w="12700">
            <a:solidFill>
              <a:srgbClr val="315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3657600"/>
            <a:ext cx="256032" cy="256032"/>
          </a:xfrm>
          <a:prstGeom prst="ellipse">
            <a:avLst/>
          </a:prstGeom>
          <a:solidFill>
            <a:srgbClr val="B9C6D2"/>
          </a:solidFill>
          <a:ln w="12700">
            <a:solidFill>
              <a:srgbClr val="7C879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0448" y="3794760"/>
            <a:ext cx="868680" cy="0"/>
          </a:xfrm>
          <a:prstGeom prst="line">
            <a:avLst/>
          </a:prstGeom>
          <a:noFill/>
          <a:ln w="21590">
            <a:solidFill>
              <a:srgbClr val="1E2A28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217920" y="3447288"/>
            <a:ext cx="32004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4800600"/>
            <a:ext cx="29718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separation 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47888" y="137160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627632"/>
            <a:ext cx="320040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SPRING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2148840"/>
            <a:ext cx="3200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½k(Δx)²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8476488" y="2788920"/>
            <a:ext cx="306324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potential energy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42248" y="3246120"/>
            <a:ext cx="0" cy="1143000"/>
          </a:xfrm>
          <a:prstGeom prst="line">
            <a:avLst/>
          </a:prstGeom>
          <a:noFill/>
          <a:ln w="38100">
            <a:solidFill>
              <a:srgbClr val="1E2A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42248" y="3794760"/>
            <a:ext cx="246888" cy="164592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89136" y="3959352"/>
            <a:ext cx="246888" cy="-164592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36024" y="3794760"/>
            <a:ext cx="246888" cy="164592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82912" y="3959352"/>
            <a:ext cx="246888" cy="-164592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3794760"/>
            <a:ext cx="246888" cy="164592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76688" y="3959352"/>
            <a:ext cx="246888" cy="-164592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23576" y="3794760"/>
            <a:ext cx="246888" cy="164592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70464" y="3959352"/>
            <a:ext cx="246888" cy="-164592"/>
          </a:xfrm>
          <a:prstGeom prst="line">
            <a:avLst/>
          </a:prstGeom>
          <a:noFill/>
          <a:ln w="25400">
            <a:solidFill>
              <a:srgbClr val="B861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17352" y="3520440"/>
            <a:ext cx="594360" cy="530352"/>
          </a:xfrm>
          <a:prstGeom prst="rect">
            <a:avLst/>
          </a:prstGeom>
          <a:solidFill>
            <a:srgbClr val="E4A76F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2208" y="4800600"/>
            <a:ext cx="29718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 / compression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and mechanical energy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Two different bookkeeping ideas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89888"/>
            <a:ext cx="507492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45920"/>
            <a:ext cx="310896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86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INTERNAL-ENERGY CHANGE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48840"/>
            <a:ext cx="4526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ΔU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</a:t>
            </a:r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U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int,f</a:t>
            </a:r>
            <a:pPr algn="ctr" indent="0" marL="0">
              <a:buNone/>
            </a:pPr>
            <a:r>
              <a:rPr lang="en-US" sz="23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− U</a:t>
            </a:r>
            <a:pPr algn="ctr" indent="0" marL="0">
              <a:buNone/>
            </a:pPr>
            <a:r>
              <a:rPr lang="en-US" sz="2300" b="1" baseline="-400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int,i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50976" y="2798064"/>
            <a:ext cx="44805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to track an increase/decrease in microscopic/internal energy.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25880" y="3703320"/>
            <a:ext cx="137160" cy="1371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92808" y="3703320"/>
            <a:ext cx="137160" cy="137160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9736" y="3703320"/>
            <a:ext cx="137160" cy="1371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26664" y="3703320"/>
            <a:ext cx="137160" cy="137160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4050792"/>
            <a:ext cx="137160" cy="1371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92808" y="4050792"/>
            <a:ext cx="137160" cy="137160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9736" y="4050792"/>
            <a:ext cx="137160" cy="1371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664" y="4050792"/>
            <a:ext cx="137160" cy="137160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4398264"/>
            <a:ext cx="137160" cy="1371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92808" y="4398264"/>
            <a:ext cx="137160" cy="137160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9736" y="4398264"/>
            <a:ext cx="137160" cy="1371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26664" y="4398264"/>
            <a:ext cx="137160" cy="137160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5880" y="4745736"/>
            <a:ext cx="137160" cy="1371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92808" y="4745736"/>
            <a:ext cx="137160" cy="137160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59736" y="4745736"/>
            <a:ext cx="137160" cy="137160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26664" y="4745736"/>
            <a:ext cx="137160" cy="137160"/>
          </a:xfrm>
          <a:prstGeom prst="ellipse">
            <a:avLst/>
          </a:prstGeom>
          <a:solidFill>
            <a:srgbClr val="B86100"/>
          </a:solidFill>
          <a:ln w="12700">
            <a:solidFill>
              <a:srgbClr val="B86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138928"/>
            <a:ext cx="43891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/ microscopic motion + interactions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1389888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645920"/>
            <a:ext cx="26060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 ENERGY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66560" y="2148840"/>
            <a:ext cx="4069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pPr algn="ctr" indent="0" marL="0">
              <a:buNone/>
            </a:pPr>
            <a:r>
              <a:rPr lang="en-US" sz="2800" b="1" baseline="-400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</a:t>
            </a:r>
            <a:pPr algn="ctr" indent="0" marL="0">
              <a:buNone/>
            </a:pPr>
            <a:r>
              <a:rPr lang="en-US" sz="28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K + U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565392" y="2798064"/>
            <a:ext cx="457200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the kinetic + potential energies that belong to the chosen system.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15200" y="3749040"/>
            <a:ext cx="1143000" cy="1188720"/>
          </a:xfrm>
          <a:prstGeom prst="rect">
            <a:avLst/>
          </a:prstGeom>
          <a:solidFill>
            <a:srgbClr val="74A9D0"/>
          </a:solidFill>
          <a:ln w="12700">
            <a:solidFill>
              <a:srgbClr val="74A9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4133088"/>
            <a:ext cx="1143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8522208" y="4160520"/>
            <a:ext cx="1143000" cy="777240"/>
          </a:xfrm>
          <a:prstGeom prst="rect">
            <a:avLst/>
          </a:prstGeom>
          <a:solidFill>
            <a:srgbClr val="67AA86"/>
          </a:solidFill>
          <a:ln w="12700">
            <a:solidFill>
              <a:srgbClr val="67AA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22208" y="4370832"/>
            <a:ext cx="1143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802368" y="4270248"/>
            <a:ext cx="411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10287000" y="3749040"/>
            <a:ext cx="731520" cy="1188720"/>
          </a:xfrm>
          <a:prstGeom prst="rect">
            <a:avLst/>
          </a:prstGeom>
          <a:solidFill>
            <a:srgbClr val="A3B3AE"/>
          </a:solidFill>
          <a:ln w="12700">
            <a:solidFill>
              <a:srgbClr val="A3B3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87000" y="4133088"/>
            <a:ext cx="7315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B skill: convert to SI first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Do not let the energy equation hide a unit mistake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5074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16916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750 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1691640"/>
            <a:ext cx="548640" cy="320040"/>
          </a:xfrm>
          <a:prstGeom prst="chevron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1296" y="1664208"/>
            <a:ext cx="19202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0.750 kg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45936" y="1417320"/>
            <a:ext cx="5074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664208"/>
            <a:ext cx="16916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cm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30768" y="1691640"/>
            <a:ext cx="548640" cy="320040"/>
          </a:xfrm>
          <a:prstGeom prst="chevron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07424" y="1664208"/>
            <a:ext cx="19202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0.45 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9808" y="2743200"/>
            <a:ext cx="5074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90088"/>
            <a:ext cx="16916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km h⁻¹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834640" y="3017520"/>
            <a:ext cx="548640" cy="320040"/>
          </a:xfrm>
          <a:prstGeom prst="chevron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11296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 m s⁻¹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45936" y="2743200"/>
            <a:ext cx="5074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990088"/>
            <a:ext cx="16916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 rpm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30768" y="3017520"/>
            <a:ext cx="548640" cy="320040"/>
          </a:xfrm>
          <a:prstGeom prst="chevron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4π rad s⁻¹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9808" y="4069080"/>
            <a:ext cx="5074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315968"/>
            <a:ext cx="16916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 tonnes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834640" y="4343400"/>
            <a:ext cx="548640" cy="320040"/>
          </a:xfrm>
          <a:prstGeom prst="chevron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4315968"/>
            <a:ext cx="19202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2000 kg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45936" y="4069080"/>
            <a:ext cx="50749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4315968"/>
            <a:ext cx="16916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7000 km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430768" y="4343400"/>
            <a:ext cx="548640" cy="320040"/>
          </a:xfrm>
          <a:prstGeom prst="chevron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07424" y="4315968"/>
            <a:ext cx="192024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7.00 × 10⁶ 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72768" y="5486400"/>
            <a:ext cx="9052560" cy="585216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5605272"/>
            <a:ext cx="8732520" cy="301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→ choose equation → substitute with units → calculate → sensible precision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student activity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HTML walkthrough + work-pack — three rounds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554480"/>
            <a:ext cx="3383280" cy="3337560"/>
          </a:xfrm>
          <a:prstGeom prst="roundRect">
            <a:avLst>
              <a:gd name="adj" fmla="val 3288"/>
            </a:avLst>
          </a:prstGeom>
          <a:solidFill>
            <a:srgbClr val="E9F5F0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792224"/>
            <a:ext cx="530352" cy="530352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801368"/>
            <a:ext cx="530352" cy="2916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27632" y="1847088"/>
            <a:ext cx="20116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2578608"/>
            <a:ext cx="285292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in 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3246120"/>
            <a:ext cx="274320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equation and calculate.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160520"/>
            <a:ext cx="26060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Hint → Worked solution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07992" y="1554480"/>
            <a:ext cx="33832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45736" y="1792224"/>
            <a:ext cx="530352" cy="530352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1801368"/>
            <a:ext cx="530352" cy="2916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22392" y="1847088"/>
            <a:ext cx="20116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64024" y="2578608"/>
            <a:ext cx="285292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Non-SI 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28032" y="3246120"/>
            <a:ext cx="274320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first, then calculate.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4160520"/>
            <a:ext cx="26060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Hint → Worked solution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02752" y="1554480"/>
            <a:ext cx="33832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5E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0496" y="1792224"/>
            <a:ext cx="530352" cy="530352"/>
          </a:xfrm>
          <a:prstGeom prst="ellipse">
            <a:avLst/>
          </a:prstGeom>
          <a:solidFill>
            <a:srgbClr val="1B5E8C"/>
          </a:solidFill>
          <a:ln w="12700">
            <a:solidFill>
              <a:srgbClr val="1B5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0496" y="1801368"/>
            <a:ext cx="530352" cy="29169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17152" y="1847088"/>
            <a:ext cx="20116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REARRANGE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58784" y="2578608"/>
            <a:ext cx="2852928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is given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22792" y="3246120"/>
            <a:ext cx="274320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Rearrange to find a missing quantity.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0" y="4160520"/>
            <a:ext cx="26060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70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Hint → Worked solution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5303520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61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attempt first. Hint second. Worked solution last.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B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you leave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1706C"/>
                </a:solidFill>
              </a:rPr>
              <a:t>Use the final page of your work-pack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402336" cy="402336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99032"/>
            <a:ext cx="402336" cy="22128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61872" y="1362456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SI unit of energy?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85800" y="2167128"/>
            <a:ext cx="402336" cy="402336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76272"/>
            <a:ext cx="402336" cy="22128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61872" y="2139696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difference between kinetic and potential energy?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402336" cy="402336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53512"/>
            <a:ext cx="402336" cy="22128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61872" y="2916936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equation would you use for a compressed spring?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85800" y="3721608"/>
            <a:ext cx="402336" cy="402336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30752"/>
            <a:ext cx="402336" cy="22128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61872" y="3694176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general gravitational potential energy negative?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85800" y="4498848"/>
            <a:ext cx="402336" cy="402336"/>
          </a:xfrm>
          <a:prstGeom prst="ellipse">
            <a:avLst/>
          </a:prstGeom>
          <a:solidFill>
            <a:srgbClr val="0B6B4F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07992"/>
            <a:ext cx="402336" cy="22128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61872" y="4471416"/>
            <a:ext cx="96926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2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question do you still have?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949440" y="5266944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9F5F0"/>
          </a:solidFill>
          <a:ln w="12700">
            <a:solidFill>
              <a:srgbClr val="0B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5404104"/>
            <a:ext cx="41148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6B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L2 · Energy transfers + conservation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1706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energy? Types of energy</dc:title>
  <dc:subject>AP Physics 1 Unit 3 Lesson 1</dc:subject>
  <dc:creator>OpenAI</dc:creator>
  <cp:lastModifiedBy>OpenAI</cp:lastModifiedBy>
  <cp:revision>1</cp:revision>
  <dcterms:created xsi:type="dcterms:W3CDTF">2026-10-25T17:35:37Z</dcterms:created>
  <dcterms:modified xsi:type="dcterms:W3CDTF">2026-10-25T17:35:37Z</dcterms:modified>
</cp:coreProperties>
</file>